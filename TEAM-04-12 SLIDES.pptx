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Noto Sans" panose="020B0502040204020203" pitchFamily="34" charset="0"/>
      <p:regular r:id="rId13"/>
    </p:embeddedFont>
    <p:embeddedFont>
      <p:font typeface="Noto Sans Bold" panose="020B0604020202020204" charset="0"/>
      <p:regular r:id="rId14"/>
    </p:embeddedFont>
    <p:embeddedFont>
      <p:font typeface="Noto Sans Medium" panose="020B0604020202020204" charset="0"/>
      <p:regular r:id="rId15"/>
    </p:embeddedFont>
    <p:embeddedFont>
      <p:font typeface="Noto Serif Devanagari" panose="020B0604020202020204" charset="0"/>
      <p:regular r:id="rId16"/>
    </p:embeddedFont>
    <p:embeddedFont>
      <p:font typeface="Noto Serif Devanagari Black" panose="020B0604020202020204" charset="0"/>
      <p:regular r:id="rId17"/>
    </p:embeddedFont>
    <p:embeddedFont>
      <p:font typeface="Noto Serif Devanagari Bold" panose="020B0604020202020204" charset="0"/>
      <p:regular r:id="rId18"/>
    </p:embeddedFont>
    <p:embeddedFont>
      <p:font typeface="Noto Serif Devanagari Extra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493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scenario: one secure page load looks simple to the user, but it activates every TCP/IP layer from DNS through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route before discussing protocols. The rest of the deck follows this one request from the laptop to the web server and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downward. The PDU changes as each lower layer adds the information it needs to move the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important mapping is at the top: OSI separates application, presentation and session; TCP/IP treats them together as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scopes: URL is the human name, DNS finds the IP, IP routes between networks, MAC delivers locally, and ports select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slide room. The request crosses local access, routing, the internet and firewall controls before the web server unwraps it. The response returns along the reverse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DCC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DCC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498600"/>
            <a:ext cx="6349841" cy="4191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1647144"/>
            <a:ext cx="624824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WADF105 · GROUP- TEAM-04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5176" y="2105025"/>
            <a:ext cx="5638659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88" dirty="0">
                <a:solidFill>
                  <a:srgbClr val="1A1A1A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TCP/IP Communication in Action:</a:t>
            </a:r>
            <a:endParaRPr lang="en-US" sz="4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88" dirty="0">
                <a:solidFill>
                  <a:srgbClr val="1A1A1A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Opening a Secure Website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65176" y="5113338"/>
            <a:ext cx="3777759" cy="31651"/>
          </a:xfrm>
          <a:prstGeom prst="roundRect">
            <a:avLst>
              <a:gd name="adj" fmla="val 49998"/>
            </a:avLst>
          </a:prstGeom>
          <a:solidFill>
            <a:srgbClr val="1B4A9B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5343525"/>
            <a:ext cx="5638659" cy="54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150"/>
              </a:spcAft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FCDF-COHORT-11 · Level 1 Semester 1 · 30 Sept 2026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Presented by 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Abdulmalik Isah Gaya C11/26/FCDF17171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Lelah Naomie C11/26/FCDF17134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 on behalf of TEAM-04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43119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5821614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One page load touches every layer of the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04020"/>
            <a:ext cx="5821614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 user opens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on a laptop.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Trace the packet from client to web server and back.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It covers DNS, TCP, TLS, HTTP, IP, MAC, ports, and security.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Devices: client laptop, access point/switch, router, internet, firewall, web server.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07457" y="609600"/>
            <a:ext cx="3474653" cy="473680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A9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355" y="698500"/>
            <a:ext cx="3296857" cy="45590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07457" y="5416252"/>
            <a:ext cx="408423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A single page load activates the complete stack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The TCP/IP model has four layers, and each adds its own header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09585" y="1093391"/>
            <a:ext cx="10972526" cy="939800"/>
          </a:xfrm>
          <a:custGeom>
            <a:avLst/>
            <a:gdLst/>
            <a:ahLst/>
            <a:cxnLst/>
            <a:rect l="l" t="t" r="r" b="b"/>
            <a:pathLst>
              <a:path w="10972526" h="939800">
                <a:moveTo>
                  <a:pt x="9525" y="0"/>
                </a:moveTo>
                <a:lnTo>
                  <a:pt x="10963001" y="0"/>
                </a:lnTo>
                <a:arcTo wR="9525" hR="9525" stAng="16200000" swAng="5400000"/>
                <a:lnTo>
                  <a:pt x="10972526" y="939800"/>
                </a:lnTo>
                <a:lnTo>
                  <a:pt x="0" y="939800"/>
                </a:lnTo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E6EEFB"/>
          </a:solidFill>
          <a:ln/>
        </p:spPr>
      </p:sp>
      <p:sp>
        <p:nvSpPr>
          <p:cNvPr id="4" name="Shape 2"/>
          <p:cNvSpPr/>
          <p:nvPr/>
        </p:nvSpPr>
        <p:spPr>
          <a:xfrm>
            <a:off x="812780" y="125690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526" y="130929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4245" y="1220391"/>
            <a:ext cx="1019467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Application </a:t>
            </a:r>
            <a:r>
              <a:rPr lang="en-US" sz="1750" dirty="0">
                <a:solidFill>
                  <a:srgbClr val="4A4A4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· Data = message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84245" y="1629966"/>
            <a:ext cx="103978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Services to the user. HTTP, DNS, TLS.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033191"/>
            <a:ext cx="10972526" cy="939800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9" name="Shape 7"/>
          <p:cNvSpPr/>
          <p:nvPr/>
        </p:nvSpPr>
        <p:spPr>
          <a:xfrm>
            <a:off x="812780" y="219670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526" y="224909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4245" y="2160191"/>
            <a:ext cx="1019467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Transport </a:t>
            </a:r>
            <a:r>
              <a:rPr lang="en-US" sz="1750" dirty="0">
                <a:solidFill>
                  <a:srgbClr val="4A4A4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· Data = segment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84245" y="2569766"/>
            <a:ext cx="103978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End-to-end delivery, ports, reliability. TCP, UDP.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585" y="2972991"/>
            <a:ext cx="10972526" cy="939800"/>
          </a:xfrm>
          <a:prstGeom prst="rect">
            <a:avLst/>
          </a:prstGeom>
          <a:solidFill>
            <a:srgbClr val="FDE6D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780" y="313650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5526" y="318889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4245" y="3099991"/>
            <a:ext cx="1019467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Internet </a:t>
            </a:r>
            <a:r>
              <a:rPr lang="en-US" sz="1750" dirty="0">
                <a:solidFill>
                  <a:srgbClr val="4A4A4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· Data = packet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84245" y="3509566"/>
            <a:ext cx="103978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Logical addressing and routing. IP.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585" y="3912791"/>
            <a:ext cx="10972526" cy="939800"/>
          </a:xfrm>
          <a:custGeom>
            <a:avLst/>
            <a:gdLst/>
            <a:ahLst/>
            <a:cxnLst/>
            <a:rect l="l" t="t" r="r" b="b"/>
            <a:pathLst>
              <a:path w="10972526" h="939800">
                <a:moveTo>
                  <a:pt x="0" y="0"/>
                </a:moveTo>
                <a:lnTo>
                  <a:pt x="10972526" y="0"/>
                </a:lnTo>
                <a:lnTo>
                  <a:pt x="10972526" y="930275"/>
                </a:lnTo>
                <a:arcTo wR="9525" hR="9525" stAng="0" swAng="5400000"/>
                <a:lnTo>
                  <a:pt x="9525" y="939800"/>
                </a:lnTo>
                <a:arcTo wR="9525" h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DDEFE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80" y="407630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526" y="412869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4245" y="4039791"/>
            <a:ext cx="1019467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Network Access </a:t>
            </a:r>
            <a:r>
              <a:rPr lang="en-US" sz="1750" dirty="0">
                <a:solidFill>
                  <a:srgbClr val="4A4A4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· Data = frame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184245" y="4449366"/>
            <a:ext cx="103978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Physical transmission on the local link. Ethernet, Wi-Fi, ARP.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9585" y="5004991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Key principle: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each layer adds its own header, called encapsulation.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585" y="2026841"/>
            <a:ext cx="10972526" cy="1270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5" y="2966641"/>
            <a:ext cx="10972526" cy="1270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5" y="3906441"/>
            <a:ext cx="10972526" cy="12700"/>
          </a:xfrm>
          <a:prstGeom prst="rect">
            <a:avLst/>
          </a:prstGeom>
          <a:solidFill>
            <a:srgbClr val="1B4A9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TCP/IP folds OSI's top three layers into one Application layer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27795"/>
          <a:ext cx="10972526" cy="2444688"/>
        </p:xfrm>
        <a:graphic>
          <a:graphicData uri="http://schemas.openxmlformats.org/drawingml/2006/table">
            <a:tbl>
              <a:tblPr/>
              <a:tblGrid>
                <a:gridCol w="3730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OSI model (7 layers)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TCP/IP (4 layers)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Purpose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7 Application, 6 Presentation, 5 Session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Application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HTTP, DNS, TLS, encryption, session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4 Transport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Transport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TCP port numbers, reliability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3 Network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Internet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IP addressing and routing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2 Data Link, 1 Physical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Network Access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MAC addressing, Wi-Fi/Ethernet frames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3" name="Text 2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Four kinds of address get a packet from laptop to server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727795"/>
            <a:ext cx="5410065" cy="1866602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930995"/>
            <a:ext cx="495287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IP address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8179" y="2414786"/>
            <a:ext cx="518147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→ </a:t>
            </a: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93.184.216.34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179" y="2833886"/>
            <a:ext cx="51814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Routes across networks; changes only at NAT.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046" y="1727795"/>
            <a:ext cx="5410065" cy="1866602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1930995"/>
            <a:ext cx="495287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MAC address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640" y="2414786"/>
            <a:ext cx="518147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aa:bb:cc:11:22:33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→ router MAC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640" y="2833886"/>
            <a:ext cx="51814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Local delivery; changes every hop.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585" y="3746798"/>
            <a:ext cx="5410065" cy="1866602"/>
          </a:xfrm>
          <a:prstGeom prst="rect">
            <a:avLst/>
          </a:prstGeom>
          <a:solidFill>
            <a:srgbClr val="FDE6DE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79" y="3949998"/>
            <a:ext cx="495287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Port numbers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8179" y="4433788"/>
            <a:ext cx="518147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54321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→ </a:t>
            </a: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443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(HTTPS)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179" y="4852888"/>
            <a:ext cx="51814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Identifies the application process; </a:t>
            </a:r>
            <a:r>
              <a:rPr lang="en-US" sz="1150" kern="0" spc="6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netstat -an</a:t>
            </a: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 shows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046" y="3746798"/>
            <a:ext cx="5410065" cy="1866602"/>
          </a:xfrm>
          <a:prstGeom prst="rect">
            <a:avLst/>
          </a:prstGeom>
          <a:solidFill>
            <a:srgbClr val="DD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640" y="3949998"/>
            <a:ext cx="495287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URL / FQDN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640" y="4433788"/>
            <a:ext cx="518147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640" y="4852888"/>
            <a:ext cx="51814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Resolved by DNS before the connection begins.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PACKET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The request travels right, the response comes back left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01" y="1988145"/>
            <a:ext cx="8748593" cy="393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36666" y="2048110"/>
            <a:ext cx="1534077" cy="26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Client laptop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36666" y="2404345"/>
            <a:ext cx="1534077" cy="43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Encapsulation: HTTPS request starts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484" y="3221708"/>
            <a:ext cx="341189" cy="3411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50148" y="5005160"/>
            <a:ext cx="1542825" cy="26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Access Point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50148" y="5361395"/>
            <a:ext cx="1542825" cy="43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Wireless or switch relay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0966" y="4464018"/>
            <a:ext cx="341189" cy="3411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54881" y="2017490"/>
            <a:ext cx="1534077" cy="26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Router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054881" y="2373725"/>
            <a:ext cx="1534077" cy="43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Routes packet toward internet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195" y="3186713"/>
            <a:ext cx="341190" cy="3411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68363" y="5005160"/>
            <a:ext cx="1534077" cy="26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568363" y="5361395"/>
            <a:ext cx="1534077" cy="43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Transit across networks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9181" y="4464018"/>
            <a:ext cx="341189" cy="34119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09585" y="6077446"/>
            <a:ext cx="2925987" cy="504825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8" name="Text 11"/>
          <p:cNvSpPr/>
          <p:nvPr/>
        </p:nvSpPr>
        <p:spPr>
          <a:xfrm>
            <a:off x="787380" y="6191746"/>
            <a:ext cx="274819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Direction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3535572" y="6077446"/>
            <a:ext cx="8046539" cy="504825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20" name="Text 13"/>
          <p:cNvSpPr/>
          <p:nvPr/>
        </p:nvSpPr>
        <p:spPr>
          <a:xfrm>
            <a:off x="3713367" y="6191746"/>
            <a:ext cx="786874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Request: client → server · Response: server → client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589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Noto Sans Medium</vt:lpstr>
      <vt:lpstr>Noto Serif Devanagari Bold</vt:lpstr>
      <vt:lpstr>Consolas</vt:lpstr>
      <vt:lpstr>Noto Serif Devanagari Black</vt:lpstr>
      <vt:lpstr>Noto Sans Bold</vt:lpstr>
      <vt:lpstr>Noto Serif Devanagari ExtraBold</vt:lpstr>
      <vt:lpstr>Noto Sans</vt:lpstr>
      <vt:lpstr>Arial</vt:lpstr>
      <vt:lpstr>Noto Serif Devanagari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Abdulmalik Isah Gaya</cp:lastModifiedBy>
  <cp:revision>8</cp:revision>
  <dcterms:created xsi:type="dcterms:W3CDTF">2026-10-01T12:57:24Z</dcterms:created>
  <dcterms:modified xsi:type="dcterms:W3CDTF">2026-10-01T14:00:56Z</dcterms:modified>
</cp:coreProperties>
</file>